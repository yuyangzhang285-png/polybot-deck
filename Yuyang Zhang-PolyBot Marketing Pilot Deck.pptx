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>
    <p:embeddedFont>
      <p:font typeface="Calibri" panose="020F0502020204030204"/>
      <p:regular r:id="rId17"/>
      <p:bold r:id="rId18"/>
      <p:italic r:id="rId19"/>
      <p:boldItalic r:id="rId20"/>
    </p:embeddedFont>
    <p:embeddedFont>
      <p:font typeface="Urbanist" panose="020B0A04040200000203"/>
      <p:bold r:id="rId21"/>
      <p:boldItalic r:id="rId22"/>
    </p:embeddedFont>
    <p:embeddedFont>
      <p:font typeface="Inter" panose="02000503000000020004"/>
      <p:regular r:id="rId23"/>
      <p:bold r:id="rId24"/>
      <p:italic r:id="rId25"/>
      <p:boldItalic r:id="rId26"/>
    </p:embeddedFont>
    <p:embeddedFont>
      <p:font typeface="Urbanist SemiBold" panose="020B0A04040200000203"/>
      <p:bold r:id="rId27"/>
      <p:boldItalic r:id="rId28"/>
    </p:embeddedFont>
    <p:embeddedFont>
      <p:font typeface="Inter SemiBold" panose="02000503000000020004"/>
      <p:bold r:id="rId29"/>
      <p:boldItalic r:id="rId30"/>
    </p:embeddedFont>
    <p:embeddedFont>
      <p:font typeface="Urbanist Medium" panose="020B0A04040200000203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9" name="Google Shape;219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2194619"/>
            <a:ext cx="9001125" cy="880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PolyBot Marketing </a:t>
            </a:r>
            <a:r>
              <a:rPr lang="en-US" sz="6300" b="1" i="0" u="none" strike="noStrike" cap="none">
                <a:solidFill>
                  <a:srgbClr val="00E5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Pilot</a:t>
            </a:r>
            <a:endParaRPr lang="en-US" sz="6300" b="1" i="0" u="none" strike="noStrike" cap="none">
              <a:solidFill>
                <a:srgbClr val="00E5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3360390"/>
            <a:ext cx="8572500" cy="24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Two-Week Marketing Experiment tailored for Hong Kong Polytechnic University Mainland Freshmen.</a:t>
            </a:r>
            <a:endParaRPr sz="18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Yuyang Zhang</a:t>
            </a:r>
            <a:endParaRPr sz="18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95800" y="4367956"/>
            <a:ext cx="3200400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81750" y="151923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81025" y="1377947"/>
            <a:ext cx="5229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4572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Newly established Master's programs often lack the robust, mature onboarding ecosystems found in older departments. This creates high friction for incoming mainland students navigating a new campus and city.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14400" y="2881312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Scattered Information: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Guidelines exist, but are buried in long emails or obscure faculty websites.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372903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High Repetition: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University administration faces overwhelming repetition of basic FAQs.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4576762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Social Anxiety: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New students hesitate to ask "stupid questions" in massive WeChat groups.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542448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Void: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 clear demand for an instant, private, and accurate campus knowledge base.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Opportunity: </a:t>
            </a:r>
            <a:r>
              <a:rPr lang="en-US" sz="3600" b="1" i="0" u="none" strike="noStrike" cap="none">
                <a:solidFill>
                  <a:srgbClr val="E84B3C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Information Gap</a:t>
            </a:r>
            <a:endParaRPr lang="en-US" sz="3600" b="1" i="0" u="none" strike="noStrike" cap="none">
              <a:solidFill>
                <a:srgbClr val="E84B3C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290036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37480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45958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54435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81750" y="1713597"/>
            <a:ext cx="5229226" cy="342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000738" y="2598390"/>
            <a:ext cx="4190523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Meet </a:t>
            </a:r>
            <a:r>
              <a:rPr lang="en-US" sz="5400" b="1" i="0" u="none" strike="noStrike" cap="none">
                <a:solidFill>
                  <a:srgbClr val="00E5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PolyBot</a:t>
            </a:r>
            <a:endParaRPr lang="en-US" sz="5400" b="1" i="0" u="none" strike="noStrike" cap="none">
              <a:solidFill>
                <a:srgbClr val="00E5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286000" y="3608040"/>
            <a:ext cx="76200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 AI-powered WeChat Concierge acting as a 24/7 virtual senior student. Designed to serve as a high-value Lead Generation tool.</a:t>
            </a:r>
            <a:endParaRPr lang="en-US" sz="21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633537"/>
            <a:ext cx="34226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4625" y="1633537"/>
            <a:ext cx="34226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88225" y="1633537"/>
            <a:ext cx="3422600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6300" y="20240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76300" y="3024187"/>
            <a:ext cx="12001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Audience</a:t>
            </a:r>
            <a:endParaRPr lang="en-US" sz="2100" b="0" i="0" u="none" strike="noStrike" cap="none">
              <a:solidFill>
                <a:srgbClr val="FFFF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876300" y="3490912"/>
            <a:ext cx="283205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Incoming mainland postgraduate students at PolyU. Highly motivated, digitally native, heavy WeChat users, actively seeking integration and academic prep information.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79900" y="20240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4679900" y="3024187"/>
            <a:ext cx="115014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Message</a:t>
            </a:r>
            <a:endParaRPr lang="en-US" sz="2100" b="0" i="0" u="none" strike="noStrike" cap="none">
              <a:solidFill>
                <a:srgbClr val="FFFF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679900" y="3490900"/>
            <a:ext cx="2953500" cy="20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500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"还在新生群里爬楼找链接？添加专属AI学长，秒回理大生存指南！"</a:t>
            </a:r>
            <a:endParaRPr sz="1500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lvl="0" indent="0" algn="l" rtl="0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150" i="1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(Translation: "Don't scroll through 500 messages to find a link. Add your AI Senior for instant PolyU survival guides.")</a:t>
            </a:r>
            <a:endParaRPr sz="1150" i="1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endParaRPr sz="1500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6" name="Google Shape;126;p1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83500" y="202406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8483500" y="3024187"/>
            <a:ext cx="107013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Channel</a:t>
            </a:r>
            <a:endParaRPr lang="en-US" sz="2100" b="0" i="0" u="none" strike="noStrike" cap="none">
              <a:solidFill>
                <a:srgbClr val="FFFF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8483500" y="3490912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Organic seeding in newly formed major-specific WeChat groups, housing rental groups, and PolyU CSSA (Chinese Students and Scholars Association) forums.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129" name="Google Shape;129;p16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4870400" y="22145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8626375" y="22145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Experiment Architecture</a:t>
            </a:r>
            <a:endParaRPr lang="en-US" sz="36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 rotWithShape="1">
          <a:blip r:embed="rId10"/>
          <a:srcRect l="6139" t="29258" r="82890" b="55844"/>
          <a:stretch>
            <a:fillRect/>
          </a:stretch>
        </p:blipFill>
        <p:spPr>
          <a:xfrm>
            <a:off x="876106" y="2024050"/>
            <a:ext cx="1070126" cy="761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050625"/>
            <a:ext cx="5229225" cy="5696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1050625"/>
            <a:ext cx="5229225" cy="5696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1014713" y="1186950"/>
            <a:ext cx="447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Week 1: Cold Start &amp; Acquisition</a:t>
            </a:r>
            <a:endParaRPr lang="en-US" sz="2400" b="0" i="0" u="none" strike="noStrike" cap="none">
              <a:solidFill>
                <a:srgbClr val="00E5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1066800" y="1690687"/>
            <a:ext cx="4257600" cy="96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6867525" y="1185862"/>
            <a:ext cx="4470558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E5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Week 2: Retention &amp; Iteration</a:t>
            </a:r>
            <a:endParaRPr lang="en-US" sz="2400" b="0" i="0" u="none" strike="noStrike" cap="none">
              <a:solidFill>
                <a:srgbClr val="00E5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6867525" y="1690687"/>
            <a:ext cx="4257675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1400175" y="1938322"/>
            <a:ext cx="39243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Group Infiltration: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Join 10 target WeChat groups manually.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1400175" y="2633889"/>
            <a:ext cx="3924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Value Demonstration: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Monitor groups. When a common question arises (e.g., "How to apply for </a:t>
            </a:r>
            <a:r>
              <a:rPr lang="en-US" sz="1500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 dorm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?"), reply instantly with the exact answer.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1400175" y="4069480"/>
            <a:ext cx="4257600" cy="15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Hook:</a:t>
            </a:r>
            <a:r>
              <a:rPr lang="en-US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Append a CTA: </a:t>
            </a:r>
            <a:endParaRPr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highlight>
                  <a:srgbClr val="1A1A1A"/>
                </a:highlight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"我是AI小助手！加我好友，24小时解答新生问题。"</a:t>
            </a:r>
            <a:endParaRPr sz="1500">
              <a:solidFill>
                <a:srgbClr val="FFFFFF"/>
              </a:solidFill>
              <a:highlight>
                <a:srgbClr val="1A1A1A"/>
              </a:highlight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i="1">
                <a:solidFill>
                  <a:srgbClr val="A0AEC0"/>
                </a:solidFill>
                <a:highlight>
                  <a:srgbClr val="1A1A1A"/>
                </a:highlight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(Translation: "I'm an AI assistant! Add me for 24/7 private Q&amp;A.")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 sz="1500" i="1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400175" y="5680183"/>
            <a:ext cx="3924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Asset Deployment: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Share a minimalist, meme-style QR code poster in the group on high-traffic evenings.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200900" y="1938337"/>
            <a:ext cx="39243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Shift Focus: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Pivot from acquisition to private chat engagement analysis.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7200900" y="2786062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Intent Mapping: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Review chat logs to identify top 5 unanswered queries (fallbacks).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200900" y="3938587"/>
            <a:ext cx="39243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Agile Update: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Update the bot's knowledge base and dialogue flow within 48 hours to cover the newly discovered user pain points.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7200900" y="5395912"/>
            <a:ext cx="3924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Proactive Push: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Send a single, high-value broadcast message (e.g., "Top 3 things to do before arriving in HK") to test retention.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581025" y="231700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Two-Week Sprint Roadmap</a:t>
            </a:r>
            <a:endParaRPr lang="en-US" sz="36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53" name="Google Shape;153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6800" y="195737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6800" y="2652939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6800" y="408852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66800" y="5707913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67525" y="19573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67525" y="2805112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67525" y="395763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867525" y="5414962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153512" y="1900246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The "Friendly Senior" Persona</a:t>
            </a:r>
            <a:endParaRPr lang="en-US" sz="2100" b="0" i="0" u="none" strike="noStrike" cap="none">
              <a:solidFill>
                <a:srgbClr val="FFFF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6153512" y="2366971"/>
            <a:ext cx="52293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The avatar is a stylized, approachable mascot wearing a graduation cap. The tone is casual, helpful, and slightly humorous to lower the barrier of interaction.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8" name="Google Shape;168;p18"/>
          <p:cNvSpPr txBox="1"/>
          <p:nvPr/>
        </p:nvSpPr>
        <p:spPr>
          <a:xfrm>
            <a:off x="6153512" y="3424246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Sample Response:</a:t>
            </a:r>
            <a:endParaRPr lang="en-US" sz="1500" b="1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Draft Creative &amp; Persona</a:t>
            </a:r>
            <a:endParaRPr lang="en-US" sz="36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1021250" y="1900251"/>
            <a:ext cx="3933752" cy="39337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71" name="Google Shape;171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120450" y="3830913"/>
            <a:ext cx="5490600" cy="2080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757362"/>
            <a:ext cx="5229225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81025" y="3376612"/>
            <a:ext cx="522922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CONVERSION RATE</a:t>
            </a:r>
            <a:endParaRPr lang="en-US" sz="2100" b="0" i="0" u="none" strike="noStrike" cap="none">
              <a:solidFill>
                <a:srgbClr val="FFFFFF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381750" y="175736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Primary Success Metric</a:t>
            </a:r>
            <a:endParaRPr lang="en-US" sz="2100" b="0" i="0" u="none" strike="noStrike" cap="none">
              <a:solidFill>
                <a:srgbClr val="FFFF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80" name="Google Shape;180;p19"/>
          <p:cNvSpPr txBox="1"/>
          <p:nvPr/>
        </p:nvSpPr>
        <p:spPr>
          <a:xfrm>
            <a:off x="6381750" y="2224087"/>
            <a:ext cx="52292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Our core goal is private traffic acquisition. We will measure the ratio of users who add the Bot as a friend versus the total estimated active users in the seeded WeChat groups.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6381750" y="3694847"/>
            <a:ext cx="5229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Secondary Metrics:</a:t>
            </a:r>
            <a:endParaRPr lang="en-US" sz="1500" b="1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6715125" y="4033837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User Utterances: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Average queries per user per week (Engagement).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715125" y="4881562"/>
            <a:ext cx="4895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Resolution Rate:</a:t>
            </a:r>
            <a:r>
              <a:rPr lang="en-US" sz="15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Percentage of queries successfully handled without triggering a fallback message (Product Quality).</a:t>
            </a:r>
            <a:endParaRPr lang="en-US" sz="15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Defining Success (KPIs)</a:t>
            </a:r>
            <a:endParaRPr lang="en-US" sz="36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4052887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4900612"/>
            <a:ext cx="952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960364"/>
            <a:ext cx="3422600" cy="387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84625" y="1960364"/>
            <a:ext cx="3422600" cy="387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88225" y="1960364"/>
            <a:ext cx="3422600" cy="3870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81050" y="2160389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584650" y="2160389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388250" y="2160389"/>
            <a:ext cx="30225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0"/>
          <p:cNvSpPr txBox="1"/>
          <p:nvPr/>
        </p:nvSpPr>
        <p:spPr>
          <a:xfrm>
            <a:off x="781050" y="4255889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1. Collect Utterances</a:t>
            </a:r>
            <a:endParaRPr lang="en-US" sz="1650" b="0" i="0" u="none" strike="noStrike" cap="none">
              <a:solidFill>
                <a:srgbClr val="00E5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781050" y="4655939"/>
            <a:ext cx="30225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Monitor raw dialogue inputs during Week 1 to understand exactly how students phrase their problems in natural language.</a:t>
            </a:r>
            <a:endParaRPr lang="en-US" sz="12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584650" y="4255889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2. Analyze Fallbacks</a:t>
            </a:r>
            <a:endParaRPr lang="en-US" sz="1650" b="0" i="0" u="none" strike="noStrike" cap="none">
              <a:solidFill>
                <a:srgbClr val="00E5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584650" y="4655939"/>
            <a:ext cx="30225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Identify where the bot fails. Are they asking about course registration? Visa issues? Categorize these unmet needs rapidly.</a:t>
            </a:r>
            <a:endParaRPr lang="en-US" sz="12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8388250" y="4255889"/>
            <a:ext cx="31736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0E5FF"/>
                </a:solidFill>
                <a:latin typeface="Urbanist SemiBold" panose="020B0A04040200000203"/>
                <a:ea typeface="Urbanist SemiBold" panose="020B0A04040200000203"/>
                <a:cs typeface="Urbanist SemiBold" panose="020B0A04040200000203"/>
                <a:sym typeface="Urbanist SemiBold" panose="020B0A04040200000203"/>
              </a:rPr>
              <a:t>3. Optimize Flow</a:t>
            </a:r>
            <a:endParaRPr lang="en-US" sz="1650" b="0" i="0" u="none" strike="noStrike" cap="none">
              <a:solidFill>
                <a:srgbClr val="00E5FF"/>
              </a:solidFill>
              <a:latin typeface="Urbanist SemiBold" panose="020B0A04040200000203"/>
              <a:ea typeface="Urbanist SemiBold" panose="020B0A04040200000203"/>
              <a:cs typeface="Urbanist SemiBold" panose="020B0A04040200000203"/>
              <a:sym typeface="Urbanist SemiBold" panose="020B0A04040200000203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8388250" y="4655939"/>
            <a:ext cx="302255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Inject new intents and responses into the backend before Week 2, measuring the subsequent drop in fallback rates to validate learning.</a:t>
            </a:r>
            <a:endParaRPr lang="en-US" sz="12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pic>
        <p:nvPicPr>
          <p:cNvPr id="204" name="Google Shape;204;p20" descr="image.png"/>
          <p:cNvPicPr preferRelativeResize="0"/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81050" y="2160389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9"/>
          <a:srcRect/>
          <a:stretch>
            <a:fillRect/>
          </a:stretch>
        </p:blipFill>
        <p:spPr>
          <a:xfrm>
            <a:off x="4584650" y="2160389"/>
            <a:ext cx="302255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10"/>
          <a:srcRect/>
          <a:stretch>
            <a:fillRect/>
          </a:stretch>
        </p:blipFill>
        <p:spPr>
          <a:xfrm>
            <a:off x="8388250" y="2160389"/>
            <a:ext cx="30225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The Learning Loop</a:t>
            </a:r>
            <a:endParaRPr lang="en-US" sz="36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1789211" y="1647229"/>
            <a:ext cx="8613427" cy="3839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Urbanist Medium" panose="020B0A04040200000203"/>
                <a:ea typeface="Urbanist Medium" panose="020B0A04040200000203"/>
                <a:cs typeface="Urbanist Medium" panose="020B0A04040200000203"/>
                <a:sym typeface="Urbanist Medium" panose="020B0A04040200000203"/>
              </a:rPr>
              <a:t>Once mature, this isn't just a student tool. It becomes a B2B SaaS offering. We partner with the university to embed PolyBot in official acceptance emails, owning the student onboarding pipeline from day one.</a:t>
            </a:r>
            <a:endParaRPr lang="en-US" sz="3600" b="0" i="0" u="none" strike="noStrike" cap="none">
              <a:solidFill>
                <a:srgbClr val="FFFFFF"/>
              </a:solidFill>
              <a:latin typeface="Urbanist Medium" panose="020B0A04040200000203"/>
              <a:ea typeface="Urbanist Medium" panose="020B0A04040200000203"/>
              <a:cs typeface="Urbanist Medium" panose="020B0A04040200000203"/>
              <a:sym typeface="Urbanist Medium" panose="020B0A04040200000203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3952726" y="5867995"/>
            <a:ext cx="4286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E5FF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FUTURE MONETIZATION &amp; SCALE</a:t>
            </a:r>
            <a:endParaRPr lang="en-US" sz="1800" b="0" i="0" u="none" strike="noStrike" cap="none">
              <a:solidFill>
                <a:srgbClr val="00E5FF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217711" y="2028229"/>
            <a:ext cx="466576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E84B3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"</a:t>
            </a:r>
            <a:endParaRPr lang="en-US" sz="9000" b="0" i="0" u="none" strike="noStrike" cap="none">
              <a:solidFill>
                <a:srgbClr val="E84B3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0507558" y="5486995"/>
            <a:ext cx="466576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E84B3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"</a:t>
            </a:r>
            <a:endParaRPr lang="en-US" sz="9000" b="0" i="0" u="none" strike="noStrike" cap="none">
              <a:solidFill>
                <a:srgbClr val="E84B3C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2"/>
          <p:cNvSpPr txBox="1"/>
          <p:nvPr/>
        </p:nvSpPr>
        <p:spPr>
          <a:xfrm>
            <a:off x="305276" y="2186880"/>
            <a:ext cx="11581447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 panose="020B0A04040200000203"/>
                <a:ea typeface="Urbanist" panose="020B0A04040200000203"/>
                <a:cs typeface="Urbanist" panose="020B0A04040200000203"/>
                <a:sym typeface="Urbanist" panose="020B0A04040200000203"/>
              </a:rPr>
              <a:t>Ready for Launch.</a:t>
            </a:r>
            <a:endParaRPr lang="en-US" sz="7500" b="1" i="0" u="none" strike="noStrike" cap="none">
              <a:solidFill>
                <a:srgbClr val="FFFFFF"/>
              </a:solidFill>
              <a:latin typeface="Urbanist" panose="020B0A04040200000203"/>
              <a:ea typeface="Urbanist" panose="020B0A04040200000203"/>
              <a:cs typeface="Urbanist" panose="020B0A04040200000203"/>
              <a:sym typeface="Urbanist" panose="020B0A04040200000203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581025" y="3520380"/>
            <a:ext cx="1102995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A0AEC0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reviewing my marketing pilot proposal.</a:t>
            </a:r>
            <a:endParaRPr lang="en-US" sz="2100" b="0" i="0" u="none" strike="noStrike" cap="none">
              <a:solidFill>
                <a:srgbClr val="A0AEC0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3713</Words>
  <Application>WPS 演示</Application>
  <PresentationFormat/>
  <Paragraphs>114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Urbanist</vt:lpstr>
      <vt:lpstr>Inter</vt:lpstr>
      <vt:lpstr>Urbanist SemiBold</vt:lpstr>
      <vt:lpstr>Inter SemiBold</vt:lpstr>
      <vt:lpstr>Urbanist Medium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zagmire</cp:lastModifiedBy>
  <cp:revision>1</cp:revision>
  <dcterms:created xsi:type="dcterms:W3CDTF">2026-09-11T03:43:14Z</dcterms:created>
  <dcterms:modified xsi:type="dcterms:W3CDTF">2026-09-11T03:43:15Z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FEB20A3E738D4B68A7ABA08EAE0C205C_12</vt:lpwstr>
  </property>
  <property fmtid="{D5CDD505-2E9C-101B-9397-08002B2CF9AE}" pid="3" name="KSOProductBuildVer">
    <vt:lpwstr>2052-12.1.0.24657</vt:lpwstr>
  </property>
</Properties>
</file>